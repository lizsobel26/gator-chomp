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600" b="1">
                <a:solidFill>
                  <a:srgbClr val="0F4C5C"/>
                </a:solidFill>
                <a:latin typeface="Calibri"/>
              </a:rPr>
              <a:t>Evolving Your Role as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C2C2C"/>
                </a:solidFill>
                <a:latin typeface="Calibri"/>
              </a:rPr>
              <a:t>What got you here might not get you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7F1E5"/>
                </a:solidFill>
                <a:latin typeface="Calibri"/>
              </a:rPr>
              <a:t>Leading a mission-driven organization through growth.</a:t>
            </a:r>
          </a:p>
        </p:txBody>
      </p:sp>
      <p:sp>
        <p:nvSpPr>
          <p:cNvPr id="7" name="Heart 6"/>
          <p:cNvSpPr/>
          <p:nvPr/>
        </p:nvSpPr>
        <p:spPr>
          <a:xfrm>
            <a:off x="10607040" y="548640"/>
            <a:ext cx="914400" cy="822960"/>
          </a:xfrm>
          <a:prstGeom prst="hear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Am I the right person to lead this organization as our mission grows?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Raise your hand if you feel like you are in your sweet spot right now in terms of what you do day-to-day at your organization.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Raise your hand if the role you currently have is generally the role you would like to have in the "future" — you define "future" between 3 and 30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Evolving Your Role as a Nonprofit CEO / Executive Director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611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777240" cy="77724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777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2004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4C5C"/>
                </a:solidFill>
                <a:latin typeface="Calibri"/>
              </a:rPr>
              <a:t>Am I evolving in my role as CEO?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Develop a vision for your leadership and identify the skills you personally need to develop to advance the 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611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2194560"/>
            <a:ext cx="777240" cy="777240"/>
          </a:xfrm>
          <a:prstGeom prst="ellipse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67712"/>
            <a:ext cx="777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004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4C5C"/>
                </a:solidFill>
                <a:latin typeface="Calibri"/>
              </a:rPr>
              <a:t>Am I aware of my blind spots?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9768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Self-awareness is crucial. Identify techniques to address blind spots so you can lead board, staff, donors, and beneficiaries with clarity.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6118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2194560"/>
            <a:ext cx="777240" cy="777240"/>
          </a:xfrm>
          <a:prstGeom prst="ellipse">
            <a:avLst/>
          </a:prstGeom>
          <a:solidFill>
            <a:srgbClr val="5A8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67712"/>
            <a:ext cx="777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2004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4C5C"/>
                </a:solidFill>
                <a:latin typeface="Calibri"/>
              </a:rPr>
              <a:t>Do I have the right team in place?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Assess your staff and leadership team's capabilities — do they align with where the mission is headed?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645920"/>
            <a:ext cx="3200400" cy="3200400"/>
          </a:xfrm>
          <a:prstGeom prst="ellipse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0" b="1">
                <a:solidFill>
                  <a:srgbClr val="0F4C5C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11680"/>
            <a:ext cx="7315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7F1E5"/>
                </a:solidFill>
                <a:latin typeface="Calibri"/>
              </a:rPr>
              <a:t>Am I Evolving in my Role as CEO?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9184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7F1E5"/>
                </a:solidFill>
                <a:latin typeface="Calibri"/>
              </a:rPr>
              <a:t>Are you "stuck" in your role? Have you grown into a true CEO — or are you still the program director, lead fundraiser, and bookkeeper?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Actions of Great Nonprofit Leaders / CEOs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Build and Lead the Team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Recruit, develop, and retain a leadership team that can deliver on the mission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Talent identification — a growth superpower in resource-constrained organizations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Embody the values and culture of the organization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Provide Clear Direction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Set the vision and theory of change — paint a clear picture of impact (Cameron Herold)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Chief Reminding Officer (CRO) — simplify and repeat the mission and strategy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Execute the Plan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Disciplined execution across programs, fundraising, and operations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Focus on Your High-Payoff Activities (HPAs)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Intersection of highest mission impact, what you are great at, and what you enjoy (Jack Daly)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Traits of Great Nonprofit Leaders / CEOs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Smart with people — builds a high-performing team and strong board relationships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Culture of accountability (rare and powerful in nonprofits)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Figure-it-out mindset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Hungry — drive and effort for the mission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Unquenchable bias for action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Synthesizes and simplifies for boards, funders, and staff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Lifelong learner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High-Payoff Activities (HPAs)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What are your 3–5 HPAs?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You are great at 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You enjoy 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It significantly advances the mission (e.g., major-donor cultivation, board development, vision-setting, talent decisions)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Are you spending ~80% of your time on your HPAs?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Time-track for two weeks — list your time buckets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Stop-Doing List — how much time do you spend on things you shouldn't?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Root cause: wrong seat, or you not empowering / delegating?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Stop paying the founder tax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Ongoing course-correction — daily and weekly rocks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4C5C"/>
                </a:solidFill>
                <a:latin typeface="Calibri"/>
              </a:rPr>
              <a:t>REFLECT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F4C5C"/>
                </a:solidFill>
                <a:latin typeface="Calibri"/>
              </a:rPr>
              <a:t>How much of your time are you spending on HPAs?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Calibri"/>
              </a:rPr>
              <a:t>And what are the things you probably should STOP doing?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645920"/>
            <a:ext cx="3200400" cy="3200400"/>
          </a:xfrm>
          <a:prstGeom prst="ellipse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0" b="1">
                <a:solidFill>
                  <a:srgbClr val="0F4C5C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11680"/>
            <a:ext cx="7315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7F1E5"/>
                </a:solidFill>
                <a:latin typeface="Calibri"/>
              </a:rPr>
              <a:t>Am I Aware of My Blind Spots?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9184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7F1E5"/>
                </a:solidFill>
                <a:latin typeface="Calibri"/>
              </a:rPr>
              <a:t>Do you get honest feedback on a regular basis — from your board chair, your senior team, a peer CEO group, or a coach?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Blind 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Blind-Spot Detector — does your team feel safe enough to tell you the truth?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Self-Awareness — do you really know how you land with staff, board, and funders?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Skills for your "future" role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    –  Fundraising at the next level, board governance, public voice, scaled program oversight — which are gaps?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What might stop you from evolving?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    –  Ego, founder identity, title, sense of self-worth, compensation, attachment to programs you built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4C5C"/>
                </a:solidFill>
                <a:latin typeface="Calibri"/>
              </a:rPr>
              <a:t>REFLECT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F4C5C"/>
                </a:solidFill>
                <a:latin typeface="Calibri"/>
              </a:rPr>
              <a:t>What is a significant blind spot for you at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Calibri"/>
              </a:rPr>
              <a:t>And what (if anything) are you doing about 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645920"/>
            <a:ext cx="3200400" cy="3200400"/>
          </a:xfrm>
          <a:prstGeom prst="ellipse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0" b="1">
                <a:solidFill>
                  <a:srgbClr val="0F4C5C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11680"/>
            <a:ext cx="7315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7F1E5"/>
                </a:solidFill>
                <a:latin typeface="Calibri"/>
              </a:rPr>
              <a:t>Do I Have the Right Team in Place?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9184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7F1E5"/>
                </a:solidFill>
                <a:latin typeface="Calibri"/>
              </a:rPr>
              <a:t>Would you enthusiastically rehire every member of your senior team? If someone resigned tomorrow, would you consider it a "gift"?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0" b="1">
                <a:solidFill>
                  <a:srgbClr val="0F4C5C"/>
                </a:solidFill>
                <a:latin typeface="Calibri"/>
              </a:rPr>
              <a:t>FIX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0F4C5C"/>
                </a:solidFill>
                <a:latin typeface="Calibri"/>
              </a:rPr>
              <a:t>Is there anyone on your leadership team today whose departure would be a gift?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0" b="1">
                <a:solidFill>
                  <a:srgbClr val="E5A84B"/>
                </a:solidFill>
                <a:latin typeface="Calibri"/>
              </a:rPr>
              <a:t>FIRST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F7F1E5"/>
                </a:solidFill>
                <a:latin typeface="Calibri"/>
              </a:rPr>
              <a:t>Get the right people on the bus before deciding where to drive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F7F1E5"/>
                </a:solidFill>
                <a:latin typeface="Calibri"/>
              </a:rPr>
              <a:t>Jim Collins — Good to Great and Good to Great and the Social Sectors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First Who — Applied to Nonprofits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Right people on the bus, in the right seats, doing the right things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Clarify roles and quarterly rocks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Visionary / Integrator dynamic still applies (Traction — Rocket Fuel)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Build cohesive teams and strong staff engagement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The Five Dysfunctions of a Team (Lencioni) — trust, conflict, commitment, accountability, results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Ongoing evaluation and development of staff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Performance / values grid (9-Box)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Avoid fear of replacement — build a people pipeline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    –  Build redundancies and a virtual bench (critical when key program staff hold deep institutional knowledge)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Coach Your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Help leaders build self-awareness and become more effective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Be intentional about coaching — it is a CEO responsibility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Coaching tactics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    –  Connect on a personal level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    –  Be a sounding board — don't solve their problems for them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    –  Provide feedback — enter the danger and be their blind-spot detector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    –  Help them clarify next steps — what are you going to do, and by when?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    –  Provide accountability — follow up on issues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People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Questions to ask yourself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Would I enthusiastically rehire this person? (Performance + values / mission fit)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If they resigned today, would I be upset? Why wait for the gift?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Am I at risk of losing strong people by keeping this person in their seat?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Bus problem or seat problem?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Have they done this role at the scale we are growing into?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Ongoing feedback path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Coach up → develop people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Move → different seat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Coach out → replace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Set a demarcation line — and respect 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Active and passive decisions both carry a tax — mission impact, staff morale, donor confidence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"Don't be mad at penguins because they can't fly." (Karp)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Talent Assessment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Quantitative evaluation of your talent — performance vs. values / mission alignment.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468880"/>
            <a:ext cx="1828800" cy="1188720"/>
          </a:xfrm>
          <a:prstGeom prst="rect">
            <a:avLst/>
          </a:prstGeom>
          <a:solidFill>
            <a:srgbClr val="F7F1E5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Develop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468880"/>
            <a:ext cx="1828800" cy="1188720"/>
          </a:xfrm>
          <a:prstGeom prst="rect">
            <a:avLst/>
          </a:prstGeom>
          <a:solidFill>
            <a:srgbClr val="E5A84B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Stretch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468880"/>
            <a:ext cx="1828800" cy="1188720"/>
          </a:xfrm>
          <a:prstGeom prst="rect">
            <a:avLst/>
          </a:prstGeom>
          <a:solidFill>
            <a:srgbClr val="5A8F69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657600"/>
            <a:ext cx="1828800" cy="1188720"/>
          </a:xfrm>
          <a:prstGeom prst="rect">
            <a:avLst/>
          </a:prstGeom>
          <a:solidFill>
            <a:srgbClr val="F7F1E5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0233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Coach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657600"/>
            <a:ext cx="1828800" cy="1188720"/>
          </a:xfrm>
          <a:prstGeom prst="rect">
            <a:avLst/>
          </a:prstGeom>
          <a:solidFill>
            <a:srgbClr val="F7F1E5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0233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657600"/>
            <a:ext cx="1828800" cy="1188720"/>
          </a:xfrm>
          <a:prstGeom prst="rect">
            <a:avLst/>
          </a:prstGeom>
          <a:solidFill>
            <a:srgbClr val="E5A84B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0233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High Potential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846320"/>
            <a:ext cx="1828800" cy="1188720"/>
          </a:xfrm>
          <a:prstGeom prst="rect">
            <a:avLst/>
          </a:prstGeom>
          <a:solidFill>
            <a:srgbClr val="D96B6B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21208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Coach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846320"/>
            <a:ext cx="1828800" cy="1188720"/>
          </a:xfrm>
          <a:prstGeom prst="rect">
            <a:avLst/>
          </a:prstGeom>
          <a:solidFill>
            <a:srgbClr val="F7F1E5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521208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Develop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846320"/>
            <a:ext cx="1828800" cy="1188720"/>
          </a:xfrm>
          <a:prstGeom prst="rect">
            <a:avLst/>
          </a:prstGeom>
          <a:solidFill>
            <a:srgbClr val="F7F1E5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521208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Calibri"/>
              </a:rPr>
              <a:t>Specialist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2608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4C5C"/>
                </a:solidFill>
                <a:latin typeface="Calibri"/>
              </a:rPr>
              <a:t>Values / Mission Fit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F4C5C"/>
                </a:solidFill>
                <a:latin typeface="Calibri"/>
              </a:rPr>
              <a:t>Performance 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The Four Pillars of People (Nonprofit Edition)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C2C2C"/>
                </a:solidFill>
                <a:latin typeface="Calibri"/>
              </a:rPr>
              <a:t>•  Right people on the bus, in the right seats, doing the right things (alignment)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C2C2C"/>
                </a:solidFill>
                <a:latin typeface="Calibri"/>
              </a:rPr>
              <a:t>•  Build cohesive teams and have great staff engagement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C2C2C"/>
                </a:solidFill>
                <a:latin typeface="Calibri"/>
              </a:rPr>
              <a:t>•  Ongoing evaluation and development of staff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C2C2C"/>
                </a:solidFill>
                <a:latin typeface="Calibri"/>
              </a:rPr>
              <a:t>•  Avoid fear of replacement by building a people machine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E5A84B"/>
                </a:solidFill>
                <a:latin typeface="Calibri"/>
              </a:rPr>
              <a:t>STRONGER LEADERS. GREATER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6000" b="1">
                <a:solidFill>
                  <a:srgbClr val="F7F1E5"/>
                </a:solidFill>
                <a:latin typeface="Calibri"/>
              </a:rPr>
              <a:t>Stop managing.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F7F1E5"/>
                </a:solidFill>
                <a:latin typeface="Calibri"/>
              </a:rPr>
              <a:t>Managers become coaches — helping A-players do their best work by removing obstacles standing in the way.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Examples of Core-Value Interview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"The Ideal Team Player" by Pat Lencioni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Humble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Tell me about the most important accomplishments in your career.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What is your greatest weakness?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Hungry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What is the hardest you've ever worked on something in your life?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What kinds of hours do you generally work?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Smart with people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How would you describe your personality?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What kind of people annoy you the most — and how do you deal with them?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C2C2C"/>
                </a:solidFill>
                <a:latin typeface="Calibri"/>
              </a:rPr>
              <a:t>•  Mission-Aligned (nonprofit add)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    –  What about our mission would make you turn down a higher-paying job elsewhere?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The Truth About Staff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"The 3 Root Causes of Job Misery" by Patrick Lencioni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Anonymity — Are you known by your manager and peers?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Irrelevance — Does your work matter to someone specific (a beneficiary, a colleague, a community)?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Immeasurement — Do you get tangible feedback on your impact?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Especially important in nonprofits, where outcomes can feel abstract and pay is often below market.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5 Basic Conditions Under Which People Execute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"Beyond Entrepreneurship 2.0" by Jim Collins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They are clear on what they need to do.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They have the right skills for the job.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They are given freedom and support.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They are appreciated for their efforts.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They see the importance of their work.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Collins' Social Sectors monograph: in nonprofits, "appreciated" and "importance of the work" do disproportionate motivational 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The Tough-Love Matrix of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by Adam Grant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286000"/>
            <a:ext cx="2560320" cy="1554480"/>
          </a:xfrm>
          <a:prstGeom prst="rect">
            <a:avLst/>
          </a:prstGeom>
          <a:solidFill>
            <a:srgbClr val="F7F1E5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78892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Calibri"/>
              </a:rPr>
              <a:t>Laissez-faire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286000"/>
            <a:ext cx="2560320" cy="1554480"/>
          </a:xfrm>
          <a:prstGeom prst="rect">
            <a:avLst/>
          </a:prstGeom>
          <a:solidFill>
            <a:srgbClr val="E6C99A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78892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Calibri"/>
              </a:rPr>
              <a:t>Demanding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840480"/>
            <a:ext cx="2560320" cy="1554480"/>
          </a:xfrm>
          <a:prstGeom prst="rect">
            <a:avLst/>
          </a:prstGeom>
          <a:solidFill>
            <a:srgbClr val="C9DDC9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34340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Calibri"/>
              </a:rPr>
              <a:t>Supportive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840480"/>
            <a:ext cx="2560320" cy="1554480"/>
          </a:xfrm>
          <a:prstGeom prst="rect">
            <a:avLst/>
          </a:prstGeom>
          <a:solidFill>
            <a:srgbClr val="5A8F69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34340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Inspiring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4C5C"/>
                </a:solidFill>
                <a:latin typeface="Calibri"/>
              </a:rPr>
              <a:t>Expectations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>
                <a:solidFill>
                  <a:srgbClr val="2C2C2C"/>
                </a:solidFill>
                <a:latin typeface="Calibri"/>
              </a:rPr>
              <a:t>Low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0">
                <a:solidFill>
                  <a:srgbClr val="2C2C2C"/>
                </a:solidFill>
                <a:latin typeface="Calibri"/>
              </a:rPr>
              <a:t>High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87451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7451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F4C5C"/>
                </a:solidFill>
                <a:latin typeface="Calibri"/>
              </a:rPr>
              <a:t>The best nonprofit leaders set the bar high — and support people in clearing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0F4C5C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2C2C2C"/>
                </a:solidFill>
                <a:latin typeface="Calibri"/>
              </a:rPr>
              <a:t>Gil Bonwitt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0F4C5C"/>
                </a:solidFill>
                <a:latin typeface="Calibri"/>
              </a:rPr>
              <a:t>gil@simpact.it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2C2C2C"/>
                </a:solidFill>
                <a:latin typeface="Calibri"/>
              </a:rPr>
              <a:t>With appreciation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Matt Kutler, Kuttler Strategic, LLC — Matt@KuttlerAdvising.com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Calibri"/>
              </a:rPr>
              <a:t>Key contributor to the thinking and content behind this presentation.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3385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Calibri"/>
              </a:rPr>
              <a:t>Closing Reflections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63040" cy="54864"/>
          </a:xfrm>
          <a:prstGeom prst="rect">
            <a:avLst/>
          </a:prstGeom>
          <a:solidFill>
            <a:srgbClr val="E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For nonprofit-CEO peer groups and mastermind closings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is one word or phrase that captures what this peer experience has meant to you?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did this group give you that you didn't know you needed when you joined?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is one leadership lesson you will carry forward into your organization?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conversation, insight, or moment has stayed with you?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CEO challenge felt less lonely because of this group?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How have you grown as a nonprofit leader through this experience?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is one practical idea or strategy you've implemented at your organization?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Who or what are you especially grateful for from this time?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What did you learn from another leader that changed your perspective?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C2C2C"/>
                </a:solidFill>
                <a:latin typeface="Calibri"/>
              </a:rPr>
              <a:t>•  As we close this chapter, what do you hope each person carries forward into their mission?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